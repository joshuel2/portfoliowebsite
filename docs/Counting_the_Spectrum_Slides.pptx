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5710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[0:00 - 0:25] Title &amp; Introduction:</a:t>
            </a:r>
          </a:p>
          <a:p>
            <a:r>
              <a:t>Hello everyone and Pat. My name is Josh Johnson, and my research proposal is titled 'Counting the Spectrum: Mixed-Race Representation in Commercial Games'. In modern game development, diversity initiatives frequently celebrate broad demographic parity, but interstitial multiracial identities continue to fall through the cracks. Today I want to present my research hypothesis, methodology, and industry impact.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[0:25 - 1:20] Core Slide 1 - Research Hypothesis:</a:t>
            </a:r>
          </a:p>
          <a:p>
            <a:r>
              <a:t>Recent academic literature like the Virtual Census 2.0 shows that biracial characters nominally increased to 3.15%. On paper, this sounds like progress, but it masks a profound design failure that forms my core hypothesis.</a:t>
            </a:r>
          </a:p>
          <a:p>
            <a:endParaRPr/>
          </a:p>
          <a:p>
            <a:r>
              <a:t>First, the Ambiguity Problem: games conflate mixed identity with racial ambiguity. Without explicit canonical lineage, players default to reading characters as white or raceless, as noted by Dietrich (2013).</a:t>
            </a:r>
          </a:p>
          <a:p>
            <a:endParaRPr/>
          </a:p>
          <a:p>
            <a:r>
              <a:t>Second, Playable Agency and the Box-Art Deficit: Even if an audit claims a 2% or 3% background presence, ask yourself: how many of them are the hero on the front cover of the box? In contemporary AAA gaming, outside of Miles Morales, you hit an immediate brick wall trying to name a second primary playable mixed lead. Over 75% of leads remain white.</a:t>
            </a:r>
          </a:p>
          <a:p>
            <a:endParaRPr/>
          </a:p>
          <a:p>
            <a:r>
              <a:t>Third, the Youth Gamer Gap: National census baselines like 2.9% in the UK hide generational truths. Mixed youth represent over 5 to 10% in the UK and 15% in the US—the exact core audience playing games. My hypothesis is that commercial gaming drastically underrepresents explicit mixed identities, denying multiracial players authentic immersion.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[1:20 - 2:30] Core Slide 2 - Project Intent &amp; Methodology:</a:t>
            </a:r>
          </a:p>
          <a:p>
            <a:r>
              <a:t>To test this hypothesis and bridge the gap, my methodology connects empirical media analysis with creative design practice across a closed three-phase scientific loop.</a:t>
            </a:r>
          </a:p>
          <a:p>
            <a:endParaRPr/>
          </a:p>
          <a:p>
            <a:r>
              <a:t>In Phase 1, to eliminate subjective cherry-picking, I establish an objective commercial sample drawn from official UKIE and Circana best-selling charts from 2018 to 2024. Using a rigid mathematical formula—the primary playable protagonist plus the top four credited supporting cast across 20 titles—I audit 100 characters. Using a structured codebook, I evaluate explicit canon versus implied ambiguity, and box-art playable agency versus NPC status. A second coder will verify 20% of the sample to ensure statistical reliability (Cohen's kappa).</a:t>
            </a:r>
          </a:p>
          <a:p>
            <a:endParaRPr/>
          </a:p>
          <a:p>
            <a:r>
              <a:t>In Phase 2, because this is practice-based research, I don't just critique the industry—I build solutions. Rather than spreading my efforts thin, I will design one deep, production-ready Flagship Multiracial Protagonist Dossier. This includes concept art, non-Eurocentric facial topology guidelines, authentic 3C/4A hair specs, and rich dual-heritage narrative lore.</a:t>
            </a:r>
          </a:p>
          <a:p>
            <a:endParaRPr/>
          </a:p>
          <a:p>
            <a:r>
              <a:t>In Phase 3, I take the critical step that most dissertations miss: I scientifically validate my design. In an anonymous survey of 30 to 50 mixed-race players, I run an A/B intervention. Participants first rate a baseline ambiguous avatar from my audit, then evaluate my Flagship Dossier—first visually, and then with the dual-heritage lore revealed. This proves whether explicit lore and calibrated features genuinely enhance player immersion and recognition.</a:t>
            </a:r>
          </a:p>
          <a:p>
            <a:endParaRPr/>
          </a:p>
          <a:p>
            <a:r>
              <a:t>Crucially, ethics are comprehensively integrated across all five rubric dimensions: voluntary GDPR consent, fair-dealing IP protection, player psychological safety with content warnings and skip options, WCAG accessibility with high-contrast renders, and practical mitigation of survey self-selection bias through census cross-validation.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[2:30 - 3:30] Core Slide 3 - Societal &amp; Industry Impact:</a:t>
            </a:r>
          </a:p>
          <a:p>
            <a:r>
              <a:t>The societal and industry impact of this project operates on three levels.</a:t>
            </a:r>
          </a:p>
          <a:p>
            <a:endParaRPr/>
          </a:p>
          <a:p>
            <a:r>
              <a:t>First, for the game industry: it directly disrupts the commercial crutch of racial ambiguity. Publishers can no longer claim diversity points by dropping an ambiguously tanned NPC into a game without authentic identity.</a:t>
            </a:r>
          </a:p>
          <a:p>
            <a:endParaRPr/>
          </a:p>
          <a:p>
            <a:r>
              <a:t>Second, for developers and character artists: my research delivers actionable character design dossiers. It gives artists practical guidelines on how to blend facial topologies, hair textures, and cultural storytelling into character creation pipelines.</a:t>
            </a:r>
          </a:p>
          <a:p>
            <a:endParaRPr/>
          </a:p>
          <a:p>
            <a:r>
              <a:t>Finally, for society and players: video games are the defining cultural medium of our time. Multiracial youth are one of the fastest-growing demographics worldwide. By proving that authentic representation enhances ludic immersion, this research helps ensure that future games reflect the real-world spectrum of human identity. Thank you, and I welcome any questions.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1 - Demographic Benchmarks]:</a:t>
            </a:r>
          </a:p>
          <a:p>
            <a:r>
              <a:t>This slide is for Q&amp;A if examiners ask about specific population statistics or why the Virtual Census 2.0 findings require critical re-evaluation. It contrasts the game data against ONS 2021 (2.9%), US Census 2020 (10.2%), and critically, youth gamer demographics (10-15%) and box-art playable lead deficits.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2 - Academic References]:</a:t>
            </a:r>
          </a:p>
          <a:p>
            <a:r>
              <a:t>Peer-reviewed academic sources formatted strictly in Cite Them Right Harvard style.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416"/>
        </a:solidFill>
        <a:effectLst/>
      </p:bgPr>
    </p:bg>
    <p:spTree>
      <p:nvGrpSpPr>
        <p:cNvPr id="1" name=""/>
        <p:cNvGrpSpPr/>
        <p:nvPr/>
      </p:nvGrpSpPr>
      <p:grpSpPr>
        <a:xfrm>
          <a:off x="0" y="0"/>
          <a:ext cx="0" cy="0"/>
          <a:chOff x="0" y="0"/>
          <a:chExt cx="0" cy="0"/>
        </a:xfrm>
      </p:grpSpPr>
      <p:sp>
        <p:nvSpPr>
          <p:cNvPr id="2" name="TextBox 1"/>
          <p:cNvSpPr txBox="1"/>
          <p:nvPr/>
        </p:nvSpPr>
        <p:spPr>
          <a:xfrm>
            <a:off x="1097280" y="1645920"/>
            <a:ext cx="4384534" cy="276999"/>
          </a:xfrm>
          <a:prstGeom prst="rect">
            <a:avLst/>
          </a:prstGeom>
          <a:noFill/>
        </p:spPr>
        <p:txBody>
          <a:bodyPr wrap="none">
            <a:spAutoFit/>
          </a:bodyPr>
          <a:lstStyle/>
          <a:p>
            <a:pPr>
              <a:defRPr sz="1200" b="1">
                <a:solidFill>
                  <a:srgbClr val="D49A6A"/>
                </a:solidFill>
                <a:latin typeface="Segoe UI Semibold"/>
              </a:defRPr>
            </a:pPr>
            <a:r>
              <a:rPr lang="en-GB"/>
              <a:t>BSc Final Year RESEARCH PROPOSAL PITCH   |   LEVEL 6</a:t>
            </a:r>
            <a:endParaRPr/>
          </a:p>
        </p:txBody>
      </p:sp>
      <p:sp>
        <p:nvSpPr>
          <p:cNvPr id="3" name="TextBox 2"/>
          <p:cNvSpPr txBox="1"/>
          <p:nvPr/>
        </p:nvSpPr>
        <p:spPr>
          <a:xfrm>
            <a:off x="1097280" y="2103120"/>
            <a:ext cx="9875520" cy="2011680"/>
          </a:xfrm>
          <a:prstGeom prst="rect">
            <a:avLst/>
          </a:prstGeom>
          <a:noFill/>
        </p:spPr>
        <p:txBody>
          <a:bodyPr wrap="square">
            <a:spAutoFit/>
          </a:bodyPr>
          <a:lstStyle/>
          <a:p>
            <a:pPr>
              <a:defRPr sz="4400" b="1">
                <a:solidFill>
                  <a:srgbClr val="F5F5F7"/>
                </a:solidFill>
                <a:latin typeface="Georgia"/>
              </a:defRPr>
            </a:pPr>
            <a:r>
              <a:t>Counting the Spectrum:</a:t>
            </a:r>
            <a:br/>
            <a:r>
              <a:t>Mixed-Race Representation in Commercial Games</a:t>
            </a:r>
          </a:p>
        </p:txBody>
      </p:sp>
      <p:sp>
        <p:nvSpPr>
          <p:cNvPr id="4" name="TextBox 3"/>
          <p:cNvSpPr txBox="1"/>
          <p:nvPr/>
        </p:nvSpPr>
        <p:spPr>
          <a:xfrm>
            <a:off x="1097280" y="4297680"/>
            <a:ext cx="9601200" cy="731520"/>
          </a:xfrm>
          <a:prstGeom prst="rect">
            <a:avLst/>
          </a:prstGeom>
          <a:noFill/>
        </p:spPr>
        <p:txBody>
          <a:bodyPr wrap="none">
            <a:spAutoFit/>
          </a:bodyPr>
          <a:lstStyle/>
          <a:p>
            <a:pPr>
              <a:defRPr sz="1800">
                <a:solidFill>
                  <a:srgbClr val="B0B0BA"/>
                </a:solidFill>
                <a:latin typeface="Segoe UI Light"/>
              </a:defRPr>
            </a:pPr>
            <a:r>
              <a:t>Investigating Scarcity, Racial Ambiguity, and Avatar Agency Across Modern Gaming</a:t>
            </a:r>
            <a:br/>
            <a:r>
              <a:t>Josh Johnson   |   University of East London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416"/>
        </a:solidFill>
        <a:effectLst/>
      </p:bgPr>
    </p:bg>
    <p:spTree>
      <p:nvGrpSpPr>
        <p:cNvPr id="1" name=""/>
        <p:cNvGrpSpPr/>
        <p:nvPr/>
      </p:nvGrpSpPr>
      <p:grpSpPr>
        <a:xfrm>
          <a:off x="0" y="0"/>
          <a:ext cx="0" cy="0"/>
          <a:chOff x="0" y="0"/>
          <a:chExt cx="0" cy="0"/>
        </a:xfrm>
      </p:grpSpPr>
      <p:sp>
        <p:nvSpPr>
          <p:cNvPr id="2" name="TextBox 1"/>
          <p:cNvSpPr txBox="1"/>
          <p:nvPr/>
        </p:nvSpPr>
        <p:spPr>
          <a:xfrm>
            <a:off x="822960" y="502920"/>
            <a:ext cx="10515600" cy="320040"/>
          </a:xfrm>
          <a:prstGeom prst="rect">
            <a:avLst/>
          </a:prstGeom>
          <a:noFill/>
        </p:spPr>
        <p:txBody>
          <a:bodyPr wrap="none" lIns="0" tIns="0" rIns="0" bIns="0">
            <a:spAutoFit/>
          </a:bodyPr>
          <a:lstStyle/>
          <a:p>
            <a:pPr>
              <a:defRPr sz="1100" b="1">
                <a:solidFill>
                  <a:srgbClr val="D49A6A"/>
                </a:solidFill>
                <a:latin typeface="Segoe UI Semibold"/>
              </a:defRPr>
            </a:pPr>
            <a:r>
              <a:t>CORE ELEMENT 1: RESEARCH HYPOTHESIS</a:t>
            </a:r>
          </a:p>
        </p:txBody>
      </p:sp>
      <p:sp>
        <p:nvSpPr>
          <p:cNvPr id="3" name="TextBox 2"/>
          <p:cNvSpPr txBox="1"/>
          <p:nvPr/>
        </p:nvSpPr>
        <p:spPr>
          <a:xfrm>
            <a:off x="822960" y="868680"/>
            <a:ext cx="10515600" cy="822960"/>
          </a:xfrm>
          <a:prstGeom prst="rect">
            <a:avLst/>
          </a:prstGeom>
          <a:noFill/>
        </p:spPr>
        <p:txBody>
          <a:bodyPr wrap="square" lIns="0" tIns="0" rIns="0" bIns="0">
            <a:spAutoFit/>
          </a:bodyPr>
          <a:lstStyle/>
          <a:p>
            <a:pPr>
              <a:defRPr sz="3600" b="1">
                <a:solidFill>
                  <a:srgbClr val="F5F5F7"/>
                </a:solidFill>
                <a:latin typeface="Georgia"/>
              </a:defRPr>
            </a:pPr>
            <a:r>
              <a:t>The Illusion of Parity: Beyond Binary Headcounts</a:t>
            </a:r>
          </a:p>
        </p:txBody>
      </p:sp>
      <p:sp>
        <p:nvSpPr>
          <p:cNvPr id="4" name="TextBox 3"/>
          <p:cNvSpPr txBox="1"/>
          <p:nvPr/>
        </p:nvSpPr>
        <p:spPr>
          <a:xfrm>
            <a:off x="822960" y="6400800"/>
            <a:ext cx="4908395" cy="153888"/>
          </a:xfrm>
          <a:prstGeom prst="rect">
            <a:avLst/>
          </a:prstGeom>
          <a:noFill/>
        </p:spPr>
        <p:txBody>
          <a:bodyPr wrap="none" lIns="0" tIns="0" rIns="0" bIns="0">
            <a:spAutoFit/>
          </a:bodyPr>
          <a:lstStyle/>
          <a:p>
            <a:pPr>
              <a:defRPr sz="1000">
                <a:solidFill>
                  <a:srgbClr val="6E6E78"/>
                </a:solidFill>
                <a:latin typeface="Segoe UI"/>
              </a:defRPr>
            </a:pPr>
            <a:r>
              <a:rPr lang="en-GB"/>
              <a:t>BSc Final Year Final Project: Development   |   Josh Johnson   |   The Hypothesis</a:t>
            </a:r>
            <a:endParaRPr/>
          </a:p>
        </p:txBody>
      </p:sp>
      <p:sp>
        <p:nvSpPr>
          <p:cNvPr id="5" name="Rounded Rectangle 4"/>
          <p:cNvSpPr/>
          <p:nvPr/>
        </p:nvSpPr>
        <p:spPr>
          <a:xfrm>
            <a:off x="822960" y="1828800"/>
            <a:ext cx="3291840" cy="4206240"/>
          </a:xfrm>
          <a:prstGeom prst="roundRect">
            <a:avLst>
              <a:gd name="adj" fmla="val 5000"/>
            </a:avLst>
          </a:prstGeom>
          <a:solidFill>
            <a:srgbClr val="1E1E22"/>
          </a:solidFill>
          <a:ln w="12700">
            <a:solidFill>
              <a:srgbClr val="2E2E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057400"/>
            <a:ext cx="2834640" cy="3749039"/>
          </a:xfrm>
          <a:prstGeom prst="rect">
            <a:avLst/>
          </a:prstGeom>
          <a:noFill/>
        </p:spPr>
        <p:txBody>
          <a:bodyPr wrap="square" lIns="0" tIns="0" rIns="0" bIns="0">
            <a:spAutoFit/>
          </a:bodyPr>
          <a:lstStyle/>
          <a:p>
            <a:pPr>
              <a:spcAft>
                <a:spcPts val="400"/>
              </a:spcAft>
              <a:defRPr sz="1800" b="1">
                <a:solidFill>
                  <a:srgbClr val="D49A6A"/>
                </a:solidFill>
                <a:latin typeface="Georgia"/>
              </a:defRPr>
            </a:pPr>
            <a:r>
              <a:t>1. Explicit vs Implied</a:t>
            </a:r>
          </a:p>
          <a:p>
            <a:pPr>
              <a:spcAft>
                <a:spcPts val="800"/>
              </a:spcAft>
              <a:defRPr sz="1200">
                <a:solidFill>
                  <a:srgbClr val="F5F5F7"/>
                </a:solidFill>
                <a:latin typeface="Segoe UI Semibold"/>
              </a:defRPr>
            </a:pPr>
            <a:r>
              <a:t>The Ambiguity Problem</a:t>
            </a:r>
          </a:p>
          <a:p>
            <a:pPr>
              <a:spcAft>
                <a:spcPts val="400"/>
              </a:spcAft>
              <a:defRPr sz="1100">
                <a:solidFill>
                  <a:srgbClr val="B0B0BA"/>
                </a:solidFill>
                <a:latin typeface="Segoe UI"/>
              </a:defRPr>
            </a:pPr>
            <a:r>
              <a:t>• Headcounts have risen nominally (1.39% to 3.15% in Virtual Census 2.0).</a:t>
            </a:r>
          </a:p>
          <a:p>
            <a:pPr>
              <a:spcAft>
                <a:spcPts val="400"/>
              </a:spcAft>
              <a:defRPr sz="1100">
                <a:solidFill>
                  <a:srgbClr val="B0B0BA"/>
                </a:solidFill>
                <a:latin typeface="Segoe UI"/>
              </a:defRPr>
            </a:pPr>
            <a:r>
              <a:t>• However, most 'biracial' avatars rely entirely on vague aesthetic cues.</a:t>
            </a:r>
          </a:p>
          <a:p>
            <a:pPr>
              <a:spcAft>
                <a:spcPts val="400"/>
              </a:spcAft>
              <a:defRPr sz="1100">
                <a:solidFill>
                  <a:srgbClr val="B0B0BA"/>
                </a:solidFill>
                <a:latin typeface="Segoe UI"/>
              </a:defRPr>
            </a:pPr>
            <a:r>
              <a:t>• Players default to assuming whiteness or raceless neutrality (Dietrich, 2013).</a:t>
            </a:r>
          </a:p>
          <a:p>
            <a:pPr>
              <a:spcAft>
                <a:spcPts val="400"/>
              </a:spcAft>
              <a:defRPr sz="1100">
                <a:solidFill>
                  <a:srgbClr val="B0B0BA"/>
                </a:solidFill>
                <a:latin typeface="Segoe UI"/>
              </a:defRPr>
            </a:pPr>
            <a:r>
              <a:t>• Hypothesis: Canonically stated mixed characters are virtually absent.</a:t>
            </a:r>
          </a:p>
        </p:txBody>
      </p:sp>
      <p:sp>
        <p:nvSpPr>
          <p:cNvPr id="7" name="Rounded Rectangle 6"/>
          <p:cNvSpPr/>
          <p:nvPr/>
        </p:nvSpPr>
        <p:spPr>
          <a:xfrm>
            <a:off x="4434840" y="1828800"/>
            <a:ext cx="3291840" cy="4206240"/>
          </a:xfrm>
          <a:prstGeom prst="roundRect">
            <a:avLst>
              <a:gd name="adj" fmla="val 5000"/>
            </a:avLst>
          </a:prstGeom>
          <a:solidFill>
            <a:srgbClr val="1E1E22"/>
          </a:solidFill>
          <a:ln w="12700">
            <a:solidFill>
              <a:srgbClr val="2E2E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63440" y="2057400"/>
            <a:ext cx="2834640" cy="3749039"/>
          </a:xfrm>
          <a:prstGeom prst="rect">
            <a:avLst/>
          </a:prstGeom>
          <a:noFill/>
        </p:spPr>
        <p:txBody>
          <a:bodyPr wrap="square" lIns="0" tIns="0" rIns="0" bIns="0">
            <a:spAutoFit/>
          </a:bodyPr>
          <a:lstStyle/>
          <a:p>
            <a:pPr>
              <a:spcAft>
                <a:spcPts val="400"/>
              </a:spcAft>
              <a:defRPr sz="1800" b="1">
                <a:solidFill>
                  <a:srgbClr val="D49A6A"/>
                </a:solidFill>
                <a:latin typeface="Georgia"/>
              </a:defRPr>
            </a:pPr>
            <a:r>
              <a:t>2. Playable Agency</a:t>
            </a:r>
          </a:p>
          <a:p>
            <a:pPr>
              <a:spcAft>
                <a:spcPts val="800"/>
              </a:spcAft>
              <a:defRPr sz="1200">
                <a:solidFill>
                  <a:srgbClr val="F5F5F7"/>
                </a:solidFill>
                <a:latin typeface="Segoe UI Semibold"/>
              </a:defRPr>
            </a:pPr>
            <a:r>
              <a:t>The Box-Art Lead Deficit</a:t>
            </a:r>
          </a:p>
          <a:p>
            <a:pPr>
              <a:spcAft>
                <a:spcPts val="400"/>
              </a:spcAft>
              <a:defRPr sz="1100">
                <a:solidFill>
                  <a:srgbClr val="B0B0BA"/>
                </a:solidFill>
                <a:latin typeface="Segoe UI"/>
              </a:defRPr>
            </a:pPr>
            <a:r>
              <a:t>• Mixed characters are virtually absent as primary playable box-art leads.</a:t>
            </a:r>
          </a:p>
          <a:p>
            <a:pPr>
              <a:spcAft>
                <a:spcPts val="400"/>
              </a:spcAft>
              <a:defRPr sz="1100">
                <a:solidFill>
                  <a:srgbClr val="B0B0BA"/>
                </a:solidFill>
                <a:latin typeface="Segoe UI"/>
              </a:defRPr>
            </a:pPr>
            <a:r>
              <a:t>• Outside isolated figures like Miles Morales, leads default to whiteness (75–80%).</a:t>
            </a:r>
          </a:p>
          <a:p>
            <a:pPr>
              <a:spcAft>
                <a:spcPts val="400"/>
              </a:spcAft>
              <a:defRPr sz="1100">
                <a:solidFill>
                  <a:srgbClr val="B0B0BA"/>
                </a:solidFill>
                <a:latin typeface="Segoe UI"/>
              </a:defRPr>
            </a:pPr>
            <a:r>
              <a:t>• Mixed identities are sidelined into support NPCs or reconciliation devices (Phillips, 2022).</a:t>
            </a:r>
          </a:p>
          <a:p>
            <a:pPr>
              <a:spcAft>
                <a:spcPts val="400"/>
              </a:spcAft>
              <a:defRPr sz="1100">
                <a:solidFill>
                  <a:srgbClr val="B0B0BA"/>
                </a:solidFill>
                <a:latin typeface="Segoe UI"/>
              </a:defRPr>
            </a:pPr>
            <a:r>
              <a:t>• Hypothesis: Mixed characters face an acute agency and lead-role deficit.</a:t>
            </a:r>
          </a:p>
        </p:txBody>
      </p:sp>
      <p:sp>
        <p:nvSpPr>
          <p:cNvPr id="9" name="Rounded Rectangle 8"/>
          <p:cNvSpPr/>
          <p:nvPr/>
        </p:nvSpPr>
        <p:spPr>
          <a:xfrm>
            <a:off x="8046720" y="1828800"/>
            <a:ext cx="3291840" cy="4206240"/>
          </a:xfrm>
          <a:prstGeom prst="roundRect">
            <a:avLst>
              <a:gd name="adj" fmla="val 5000"/>
            </a:avLst>
          </a:prstGeom>
          <a:solidFill>
            <a:srgbClr val="1E1E22"/>
          </a:solidFill>
          <a:ln w="12700">
            <a:solidFill>
              <a:srgbClr val="2E2E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75320" y="2057400"/>
            <a:ext cx="2834640" cy="3749039"/>
          </a:xfrm>
          <a:prstGeom prst="rect">
            <a:avLst/>
          </a:prstGeom>
          <a:noFill/>
        </p:spPr>
        <p:txBody>
          <a:bodyPr wrap="square" lIns="0" tIns="0" rIns="0" bIns="0">
            <a:spAutoFit/>
          </a:bodyPr>
          <a:lstStyle/>
          <a:p>
            <a:pPr>
              <a:spcAft>
                <a:spcPts val="400"/>
              </a:spcAft>
              <a:defRPr sz="1800" b="1">
                <a:solidFill>
                  <a:srgbClr val="D49A6A"/>
                </a:solidFill>
                <a:latin typeface="Georgia"/>
              </a:defRPr>
            </a:pPr>
            <a:r>
              <a:t>3. Demographic Reality</a:t>
            </a:r>
          </a:p>
          <a:p>
            <a:pPr>
              <a:spcAft>
                <a:spcPts val="800"/>
              </a:spcAft>
              <a:defRPr sz="1200">
                <a:solidFill>
                  <a:srgbClr val="F5F5F7"/>
                </a:solidFill>
                <a:latin typeface="Segoe UI Semibold"/>
              </a:defRPr>
            </a:pPr>
            <a:r>
              <a:t>The Youth Gamer Gap</a:t>
            </a:r>
          </a:p>
          <a:p>
            <a:pPr>
              <a:spcAft>
                <a:spcPts val="400"/>
              </a:spcAft>
              <a:defRPr sz="1100">
                <a:solidFill>
                  <a:srgbClr val="B0B0BA"/>
                </a:solidFill>
                <a:latin typeface="Segoe UI"/>
              </a:defRPr>
            </a:pPr>
            <a:r>
              <a:t>• National averages (UK 2.9%, US 10.2%) obscure generational realities.</a:t>
            </a:r>
          </a:p>
          <a:p>
            <a:pPr>
              <a:spcAft>
                <a:spcPts val="400"/>
              </a:spcAft>
              <a:defRPr sz="1100">
                <a:solidFill>
                  <a:srgbClr val="B0B0BA"/>
                </a:solidFill>
                <a:latin typeface="Segoe UI"/>
              </a:defRPr>
            </a:pPr>
            <a:r>
              <a:t>• Mixed youth exceed 5–10% in the UK (urban hubs) and 15% in the US.</a:t>
            </a:r>
          </a:p>
          <a:p>
            <a:pPr>
              <a:spcAft>
                <a:spcPts val="400"/>
              </a:spcAft>
              <a:defRPr sz="1100">
                <a:solidFill>
                  <a:srgbClr val="B0B0BA"/>
                </a:solidFill>
                <a:latin typeface="Segoe UI"/>
              </a:defRPr>
            </a:pPr>
            <a:r>
              <a:t>• The core video game audience is overwhelmingly young and multiracial.</a:t>
            </a:r>
          </a:p>
          <a:p>
            <a:pPr>
              <a:spcAft>
                <a:spcPts val="400"/>
              </a:spcAft>
              <a:defRPr sz="1100">
                <a:solidFill>
                  <a:srgbClr val="B0B0BA"/>
                </a:solidFill>
                <a:latin typeface="Segoe UI"/>
              </a:defRPr>
            </a:pPr>
            <a:r>
              <a:t>• Hypothesis: Games lag severely behind the demographics of who actually plays.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416"/>
        </a:solidFill>
        <a:effectLst/>
      </p:bgPr>
    </p:bg>
    <p:spTree>
      <p:nvGrpSpPr>
        <p:cNvPr id="1" name=""/>
        <p:cNvGrpSpPr/>
        <p:nvPr/>
      </p:nvGrpSpPr>
      <p:grpSpPr>
        <a:xfrm>
          <a:off x="0" y="0"/>
          <a:ext cx="0" cy="0"/>
          <a:chOff x="0" y="0"/>
          <a:chExt cx="0" cy="0"/>
        </a:xfrm>
      </p:grpSpPr>
      <p:sp>
        <p:nvSpPr>
          <p:cNvPr id="2" name="TextBox 1"/>
          <p:cNvSpPr txBox="1"/>
          <p:nvPr/>
        </p:nvSpPr>
        <p:spPr>
          <a:xfrm>
            <a:off x="822960" y="502920"/>
            <a:ext cx="10515600" cy="320040"/>
          </a:xfrm>
          <a:prstGeom prst="rect">
            <a:avLst/>
          </a:prstGeom>
          <a:noFill/>
        </p:spPr>
        <p:txBody>
          <a:bodyPr wrap="none" lIns="0" tIns="0" rIns="0" bIns="0">
            <a:spAutoFit/>
          </a:bodyPr>
          <a:lstStyle/>
          <a:p>
            <a:pPr>
              <a:defRPr sz="1100" b="1">
                <a:solidFill>
                  <a:srgbClr val="D49A6A"/>
                </a:solidFill>
                <a:latin typeface="Segoe UI Semibold"/>
              </a:defRPr>
            </a:pPr>
            <a:r>
              <a:t>CORE ELEMENT 2: PROJECT INTENT &amp; METHODOLOGY</a:t>
            </a:r>
          </a:p>
        </p:txBody>
      </p:sp>
      <p:sp>
        <p:nvSpPr>
          <p:cNvPr id="3" name="TextBox 2"/>
          <p:cNvSpPr txBox="1"/>
          <p:nvPr/>
        </p:nvSpPr>
        <p:spPr>
          <a:xfrm>
            <a:off x="822960" y="868680"/>
            <a:ext cx="10515600" cy="822960"/>
          </a:xfrm>
          <a:prstGeom prst="rect">
            <a:avLst/>
          </a:prstGeom>
          <a:noFill/>
        </p:spPr>
        <p:txBody>
          <a:bodyPr wrap="square" lIns="0" tIns="0" rIns="0" bIns="0">
            <a:spAutoFit/>
          </a:bodyPr>
          <a:lstStyle/>
          <a:p>
            <a:pPr>
              <a:defRPr sz="3600" b="1">
                <a:solidFill>
                  <a:srgbClr val="F5F5F7"/>
                </a:solidFill>
                <a:latin typeface="Georgia"/>
              </a:defRPr>
            </a:pPr>
            <a:r>
              <a:t>Triangulating the Gap: Content Audit, Player Voice, Design Practice</a:t>
            </a:r>
          </a:p>
        </p:txBody>
      </p:sp>
      <p:sp>
        <p:nvSpPr>
          <p:cNvPr id="4" name="TextBox 3"/>
          <p:cNvSpPr txBox="1"/>
          <p:nvPr/>
        </p:nvSpPr>
        <p:spPr>
          <a:xfrm>
            <a:off x="822960" y="6400800"/>
            <a:ext cx="5743560" cy="153888"/>
          </a:xfrm>
          <a:prstGeom prst="rect">
            <a:avLst/>
          </a:prstGeom>
          <a:noFill/>
        </p:spPr>
        <p:txBody>
          <a:bodyPr wrap="none" lIns="0" tIns="0" rIns="0" bIns="0">
            <a:spAutoFit/>
          </a:bodyPr>
          <a:lstStyle/>
          <a:p>
            <a:pPr>
              <a:defRPr sz="1000">
                <a:solidFill>
                  <a:srgbClr val="6E6E78"/>
                </a:solidFill>
                <a:latin typeface="Segoe UI"/>
              </a:defRPr>
            </a:pPr>
            <a:r>
              <a:rPr lang="en-GB"/>
              <a:t>BSc Final Year Final Project: Development   |   Josh Johnson   |   Project Intent &amp; Methodology</a:t>
            </a:r>
            <a:endParaRPr/>
          </a:p>
        </p:txBody>
      </p:sp>
      <p:sp>
        <p:nvSpPr>
          <p:cNvPr id="5" name="Rounded Rectangle 4"/>
          <p:cNvSpPr/>
          <p:nvPr/>
        </p:nvSpPr>
        <p:spPr>
          <a:xfrm>
            <a:off x="822960" y="1828800"/>
            <a:ext cx="3291840" cy="4206240"/>
          </a:xfrm>
          <a:prstGeom prst="roundRect">
            <a:avLst>
              <a:gd name="adj" fmla="val 5000"/>
            </a:avLst>
          </a:prstGeom>
          <a:solidFill>
            <a:srgbClr val="1E1E22"/>
          </a:solidFill>
          <a:ln w="12700">
            <a:solidFill>
              <a:srgbClr val="2E2E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057400"/>
            <a:ext cx="2834640" cy="3749039"/>
          </a:xfrm>
          <a:prstGeom prst="rect">
            <a:avLst/>
          </a:prstGeom>
          <a:noFill/>
        </p:spPr>
        <p:txBody>
          <a:bodyPr wrap="square" lIns="0" tIns="0" rIns="0" bIns="0">
            <a:spAutoFit/>
          </a:bodyPr>
          <a:lstStyle/>
          <a:p>
            <a:pPr>
              <a:spcAft>
                <a:spcPts val="400"/>
              </a:spcAft>
              <a:defRPr sz="1800" b="1">
                <a:solidFill>
                  <a:srgbClr val="D49A6A"/>
                </a:solidFill>
                <a:latin typeface="Georgia"/>
              </a:defRPr>
            </a:pPr>
            <a:r>
              <a:t>Phase 1: Content Audit</a:t>
            </a:r>
          </a:p>
          <a:p>
            <a:pPr>
              <a:spcAft>
                <a:spcPts val="800"/>
              </a:spcAft>
              <a:defRPr sz="1200">
                <a:solidFill>
                  <a:srgbClr val="F5F5F7"/>
                </a:solidFill>
                <a:latin typeface="Segoe UI Semibold"/>
              </a:defRPr>
            </a:pPr>
            <a:r>
              <a:t>Objective Commercial Sample</a:t>
            </a:r>
          </a:p>
          <a:p>
            <a:pPr>
              <a:spcAft>
                <a:spcPts val="400"/>
              </a:spcAft>
              <a:defRPr sz="1100">
                <a:solidFill>
                  <a:srgbClr val="B0B0BA"/>
                </a:solidFill>
                <a:latin typeface="Segoe UI"/>
              </a:defRPr>
            </a:pPr>
            <a:r>
              <a:t>• Zero cherry-picking: sample drawn from official UKIE/GfK &amp; Circana annual charts.</a:t>
            </a:r>
          </a:p>
          <a:p>
            <a:pPr>
              <a:spcAft>
                <a:spcPts val="400"/>
              </a:spcAft>
              <a:defRPr sz="1100">
                <a:solidFill>
                  <a:srgbClr val="B0B0BA"/>
                </a:solidFill>
                <a:latin typeface="Segoe UI"/>
              </a:defRPr>
            </a:pPr>
            <a:r>
              <a:t>• Systematic rule: Primary Playable Lead + Top 4 credited cast across 20 titles (100 characters).</a:t>
            </a:r>
          </a:p>
          <a:p>
            <a:pPr>
              <a:spcAft>
                <a:spcPts val="400"/>
              </a:spcAft>
              <a:defRPr sz="1100">
                <a:solidFill>
                  <a:srgbClr val="B0B0BA"/>
                </a:solidFill>
                <a:latin typeface="Segoe UI"/>
              </a:defRPr>
            </a:pPr>
            <a:r>
              <a:t>• Codebook metrics: Explicit Canon vs Implied Ambiguity, Box-Art Lead vs NPC.</a:t>
            </a:r>
          </a:p>
          <a:p>
            <a:pPr>
              <a:spcAft>
                <a:spcPts val="400"/>
              </a:spcAft>
              <a:defRPr sz="1100">
                <a:solidFill>
                  <a:srgbClr val="B0B0BA"/>
                </a:solidFill>
                <a:latin typeface="Segoe UI"/>
              </a:defRPr>
            </a:pPr>
            <a:r>
              <a:t>• Benchmarked against youth demographics (10–15%) and national census data.</a:t>
            </a:r>
          </a:p>
          <a:p>
            <a:pPr>
              <a:spcAft>
                <a:spcPts val="400"/>
              </a:spcAft>
              <a:defRPr sz="1100">
                <a:solidFill>
                  <a:srgbClr val="B0B0BA"/>
                </a:solidFill>
                <a:latin typeface="Segoe UI"/>
              </a:defRPr>
            </a:pPr>
            <a:r>
              <a:t>• 20% subsample cross-coded for inter-coder reliability (Cohen's kappa).</a:t>
            </a:r>
          </a:p>
        </p:txBody>
      </p:sp>
      <p:sp>
        <p:nvSpPr>
          <p:cNvPr id="7" name="Rounded Rectangle 6"/>
          <p:cNvSpPr/>
          <p:nvPr/>
        </p:nvSpPr>
        <p:spPr>
          <a:xfrm>
            <a:off x="4434840" y="1828800"/>
            <a:ext cx="3291840" cy="4206240"/>
          </a:xfrm>
          <a:prstGeom prst="roundRect">
            <a:avLst>
              <a:gd name="adj" fmla="val 5000"/>
            </a:avLst>
          </a:prstGeom>
          <a:solidFill>
            <a:srgbClr val="1E1E22"/>
          </a:solidFill>
          <a:ln w="12700">
            <a:solidFill>
              <a:srgbClr val="2E2E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63440" y="2057400"/>
            <a:ext cx="2834640" cy="3749039"/>
          </a:xfrm>
          <a:prstGeom prst="rect">
            <a:avLst/>
          </a:prstGeom>
          <a:noFill/>
        </p:spPr>
        <p:txBody>
          <a:bodyPr wrap="square" lIns="0" tIns="0" rIns="0" bIns="0">
            <a:spAutoFit/>
          </a:bodyPr>
          <a:lstStyle/>
          <a:p>
            <a:pPr>
              <a:spcAft>
                <a:spcPts val="400"/>
              </a:spcAft>
              <a:defRPr sz="1800" b="1">
                <a:solidFill>
                  <a:srgbClr val="D49A6A"/>
                </a:solidFill>
                <a:latin typeface="Georgia"/>
              </a:defRPr>
            </a:pPr>
            <a:r>
              <a:t>Phase 2: Practice Output</a:t>
            </a:r>
          </a:p>
          <a:p>
            <a:pPr>
              <a:spcAft>
                <a:spcPts val="800"/>
              </a:spcAft>
              <a:defRPr sz="1200">
                <a:solidFill>
                  <a:srgbClr val="F5F5F7"/>
                </a:solidFill>
                <a:latin typeface="Segoe UI Semibold"/>
              </a:defRPr>
            </a:pPr>
            <a:r>
              <a:t>1 Flagship Protagonist Dossier</a:t>
            </a:r>
          </a:p>
          <a:p>
            <a:pPr>
              <a:spcAft>
                <a:spcPts val="400"/>
              </a:spcAft>
              <a:defRPr sz="1100">
                <a:solidFill>
                  <a:srgbClr val="B0B0BA"/>
                </a:solidFill>
                <a:latin typeface="Segoe UI"/>
              </a:defRPr>
            </a:pPr>
            <a:r>
              <a:t>• Synthesizing audit gaps directly into 1 deep, production-ready playable lead.</a:t>
            </a:r>
          </a:p>
          <a:p>
            <a:pPr>
              <a:spcAft>
                <a:spcPts val="400"/>
              </a:spcAft>
              <a:defRPr sz="1100">
                <a:solidFill>
                  <a:srgbClr val="B0B0BA"/>
                </a:solidFill>
                <a:latin typeface="Segoe UI"/>
              </a:defRPr>
            </a:pPr>
            <a:r>
              <a:t>• Complete dual-heritage family lineage and culturally grounded narrative lore.</a:t>
            </a:r>
          </a:p>
          <a:p>
            <a:pPr>
              <a:spcAft>
                <a:spcPts val="400"/>
              </a:spcAft>
              <a:defRPr sz="1100">
                <a:solidFill>
                  <a:srgbClr val="B0B0BA"/>
                </a:solidFill>
                <a:latin typeface="Segoe UI"/>
              </a:defRPr>
            </a:pPr>
            <a:r>
              <a:t>• Non-Eurocentric facial mesh topology and authentic 3C/4A hair render guides.</a:t>
            </a:r>
          </a:p>
          <a:p>
            <a:pPr>
              <a:spcAft>
                <a:spcPts val="400"/>
              </a:spcAft>
              <a:defRPr sz="1100">
                <a:solidFill>
                  <a:srgbClr val="B0B0BA"/>
                </a:solidFill>
                <a:latin typeface="Segoe UI"/>
              </a:defRPr>
            </a:pPr>
            <a:r>
              <a:t>• Delivers a tangible creative solution directly countering commercial ambiguity.</a:t>
            </a:r>
          </a:p>
          <a:p>
            <a:pPr>
              <a:spcAft>
                <a:spcPts val="400"/>
              </a:spcAft>
              <a:defRPr sz="1100">
                <a:solidFill>
                  <a:srgbClr val="B0B0BA"/>
                </a:solidFill>
                <a:latin typeface="Segoe UI"/>
              </a:defRPr>
            </a:pPr>
            <a:r>
              <a:t>• Establishes a practical, replicable pipeline for character artists and studios.</a:t>
            </a:r>
          </a:p>
        </p:txBody>
      </p:sp>
      <p:sp>
        <p:nvSpPr>
          <p:cNvPr id="9" name="Rounded Rectangle 8"/>
          <p:cNvSpPr/>
          <p:nvPr/>
        </p:nvSpPr>
        <p:spPr>
          <a:xfrm>
            <a:off x="8046720" y="1828800"/>
            <a:ext cx="3291840" cy="4206240"/>
          </a:xfrm>
          <a:prstGeom prst="roundRect">
            <a:avLst>
              <a:gd name="adj" fmla="val 5000"/>
            </a:avLst>
          </a:prstGeom>
          <a:solidFill>
            <a:srgbClr val="1E1E22"/>
          </a:solidFill>
          <a:ln w="12700">
            <a:solidFill>
              <a:srgbClr val="2E2E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75320" y="2057400"/>
            <a:ext cx="2834640" cy="3749039"/>
          </a:xfrm>
          <a:prstGeom prst="rect">
            <a:avLst/>
          </a:prstGeom>
          <a:noFill/>
        </p:spPr>
        <p:txBody>
          <a:bodyPr wrap="square" lIns="0" tIns="0" rIns="0" bIns="0">
            <a:spAutoFit/>
          </a:bodyPr>
          <a:lstStyle/>
          <a:p>
            <a:pPr>
              <a:spcAft>
                <a:spcPts val="400"/>
              </a:spcAft>
              <a:defRPr sz="1800" b="1">
                <a:solidFill>
                  <a:srgbClr val="D49A6A"/>
                </a:solidFill>
                <a:latin typeface="Georgia"/>
              </a:defRPr>
            </a:pPr>
            <a:r>
              <a:t>Phase 3: Player Validation</a:t>
            </a:r>
          </a:p>
          <a:p>
            <a:pPr>
              <a:spcAft>
                <a:spcPts val="800"/>
              </a:spcAft>
              <a:defRPr sz="1200">
                <a:solidFill>
                  <a:srgbClr val="F5F5F7"/>
                </a:solidFill>
                <a:latin typeface="Segoe UI Semibold"/>
              </a:defRPr>
            </a:pPr>
            <a:r>
              <a:t>A/B Intervention Survey</a:t>
            </a:r>
          </a:p>
          <a:p>
            <a:pPr>
              <a:spcAft>
                <a:spcPts val="400"/>
              </a:spcAft>
              <a:defRPr sz="1100">
                <a:solidFill>
                  <a:srgbClr val="B0B0BA"/>
                </a:solidFill>
                <a:latin typeface="Segoe UI"/>
              </a:defRPr>
            </a:pPr>
            <a:r>
              <a:t>• Anonymous online survey of 30–50 self-identified multiracial gamers.</a:t>
            </a:r>
          </a:p>
          <a:p>
            <a:pPr>
              <a:spcAft>
                <a:spcPts val="400"/>
              </a:spcAft>
              <a:defRPr sz="1100">
                <a:solidFill>
                  <a:srgbClr val="B0B0BA"/>
                </a:solidFill>
                <a:latin typeface="Segoe UI"/>
              </a:defRPr>
            </a:pPr>
            <a:r>
              <a:t>• Part A (Baseline): Rating an ambiguous commercial avatar from the audit.</a:t>
            </a:r>
          </a:p>
          <a:p>
            <a:pPr>
              <a:spcAft>
                <a:spcPts val="400"/>
              </a:spcAft>
              <a:defRPr sz="1100">
                <a:solidFill>
                  <a:srgbClr val="B0B0BA"/>
                </a:solidFill>
                <a:latin typeface="Segoe UI"/>
              </a:defRPr>
            </a:pPr>
            <a:r>
              <a:t>• Part B (Intervention): Rating the Flagship Dossier (Visuals -&gt; Lore revealed).</a:t>
            </a:r>
          </a:p>
          <a:p>
            <a:pPr>
              <a:spcAft>
                <a:spcPts val="400"/>
              </a:spcAft>
              <a:defRPr sz="1100">
                <a:solidFill>
                  <a:srgbClr val="B0B0BA"/>
                </a:solidFill>
                <a:latin typeface="Segoe UI"/>
              </a:defRPr>
            </a:pPr>
            <a:r>
              <a:t>• Clincher Question: Proving explicit lore enhances felt representation.</a:t>
            </a:r>
          </a:p>
          <a:p>
            <a:pPr>
              <a:spcAft>
                <a:spcPts val="400"/>
              </a:spcAft>
              <a:defRPr sz="1100">
                <a:solidFill>
                  <a:srgbClr val="B0B0BA"/>
                </a:solidFill>
                <a:latin typeface="Segoe UI"/>
              </a:defRPr>
            </a:pPr>
            <a:r>
              <a:t>• 100% Ethics: Consent, IP, WCAG accessibility, player safety &amp; limitations.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1416"/>
        </a:solidFill>
        <a:effectLst/>
      </p:bgPr>
    </p:bg>
    <p:spTree>
      <p:nvGrpSpPr>
        <p:cNvPr id="1" name=""/>
        <p:cNvGrpSpPr/>
        <p:nvPr/>
      </p:nvGrpSpPr>
      <p:grpSpPr>
        <a:xfrm>
          <a:off x="0" y="0"/>
          <a:ext cx="0" cy="0"/>
          <a:chOff x="0" y="0"/>
          <a:chExt cx="0" cy="0"/>
        </a:xfrm>
      </p:grpSpPr>
      <p:sp>
        <p:nvSpPr>
          <p:cNvPr id="2" name="TextBox 1"/>
          <p:cNvSpPr txBox="1"/>
          <p:nvPr/>
        </p:nvSpPr>
        <p:spPr>
          <a:xfrm>
            <a:off x="822960" y="502920"/>
            <a:ext cx="10515600" cy="320040"/>
          </a:xfrm>
          <a:prstGeom prst="rect">
            <a:avLst/>
          </a:prstGeom>
          <a:noFill/>
        </p:spPr>
        <p:txBody>
          <a:bodyPr wrap="none" lIns="0" tIns="0" rIns="0" bIns="0">
            <a:spAutoFit/>
          </a:bodyPr>
          <a:lstStyle/>
          <a:p>
            <a:pPr>
              <a:defRPr sz="1100" b="1">
                <a:solidFill>
                  <a:srgbClr val="D49A6A"/>
                </a:solidFill>
                <a:latin typeface="Segoe UI Semibold"/>
              </a:defRPr>
            </a:pPr>
            <a:r>
              <a:t>CORE ELEMENT 3: SOCIETAL &amp; INDUSTRY IMPACT</a:t>
            </a:r>
          </a:p>
        </p:txBody>
      </p:sp>
      <p:sp>
        <p:nvSpPr>
          <p:cNvPr id="3" name="TextBox 2"/>
          <p:cNvSpPr txBox="1"/>
          <p:nvPr/>
        </p:nvSpPr>
        <p:spPr>
          <a:xfrm>
            <a:off x="822960" y="868680"/>
            <a:ext cx="10515600" cy="822960"/>
          </a:xfrm>
          <a:prstGeom prst="rect">
            <a:avLst/>
          </a:prstGeom>
          <a:noFill/>
        </p:spPr>
        <p:txBody>
          <a:bodyPr wrap="square" lIns="0" tIns="0" rIns="0" bIns="0">
            <a:spAutoFit/>
          </a:bodyPr>
          <a:lstStyle/>
          <a:p>
            <a:pPr>
              <a:defRPr sz="3600" b="1">
                <a:solidFill>
                  <a:srgbClr val="F5F5F7"/>
                </a:solidFill>
                <a:latin typeface="Georgia"/>
              </a:defRPr>
            </a:pPr>
            <a:r>
              <a:t>Transforming Pipelines: Actionable Tools for Authentic Representation</a:t>
            </a:r>
          </a:p>
        </p:txBody>
      </p:sp>
      <p:sp>
        <p:nvSpPr>
          <p:cNvPr id="4" name="TextBox 3"/>
          <p:cNvSpPr txBox="1"/>
          <p:nvPr/>
        </p:nvSpPr>
        <p:spPr>
          <a:xfrm>
            <a:off x="822960" y="6400800"/>
            <a:ext cx="4892365" cy="153888"/>
          </a:xfrm>
          <a:prstGeom prst="rect">
            <a:avLst/>
          </a:prstGeom>
          <a:noFill/>
        </p:spPr>
        <p:txBody>
          <a:bodyPr wrap="none" lIns="0" tIns="0" rIns="0" bIns="0">
            <a:spAutoFit/>
          </a:bodyPr>
          <a:lstStyle/>
          <a:p>
            <a:pPr>
              <a:defRPr sz="1000">
                <a:solidFill>
                  <a:srgbClr val="6E6E78"/>
                </a:solidFill>
                <a:latin typeface="Segoe UI"/>
              </a:defRPr>
            </a:pPr>
            <a:r>
              <a:rPr lang="en-GB"/>
              <a:t>BSc Final Year Final Project: Development   |   Josh Johnson   |   Societal Impact</a:t>
            </a:r>
            <a:endParaRPr/>
          </a:p>
        </p:txBody>
      </p:sp>
      <p:sp>
        <p:nvSpPr>
          <p:cNvPr id="5" name="Rounded Rectangle 4"/>
          <p:cNvSpPr/>
          <p:nvPr/>
        </p:nvSpPr>
        <p:spPr>
          <a:xfrm>
            <a:off x="822960" y="1828800"/>
            <a:ext cx="3291840" cy="4206240"/>
          </a:xfrm>
          <a:prstGeom prst="roundRect">
            <a:avLst>
              <a:gd name="adj" fmla="val 5000"/>
            </a:avLst>
          </a:prstGeom>
          <a:solidFill>
            <a:srgbClr val="1E1E22"/>
          </a:solidFill>
          <a:ln w="12700">
            <a:solidFill>
              <a:srgbClr val="2E2E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057400"/>
            <a:ext cx="2834640" cy="3749039"/>
          </a:xfrm>
          <a:prstGeom prst="rect">
            <a:avLst/>
          </a:prstGeom>
          <a:noFill/>
        </p:spPr>
        <p:txBody>
          <a:bodyPr wrap="square" lIns="0" tIns="0" rIns="0" bIns="0">
            <a:spAutoFit/>
          </a:bodyPr>
          <a:lstStyle/>
          <a:p>
            <a:pPr>
              <a:spcAft>
                <a:spcPts val="400"/>
              </a:spcAft>
              <a:defRPr sz="1800" b="1">
                <a:solidFill>
                  <a:srgbClr val="D49A6A"/>
                </a:solidFill>
                <a:latin typeface="Georgia"/>
              </a:defRPr>
            </a:pPr>
            <a:r>
              <a:t>1. Disrupting Ambiguity</a:t>
            </a:r>
          </a:p>
          <a:p>
            <a:pPr>
              <a:spcAft>
                <a:spcPts val="800"/>
              </a:spcAft>
              <a:defRPr sz="1200">
                <a:solidFill>
                  <a:srgbClr val="F5F5F7"/>
                </a:solidFill>
                <a:latin typeface="Segoe UI Semibold"/>
              </a:defRPr>
            </a:pPr>
            <a:r>
              <a:t>Industry Standards</a:t>
            </a:r>
          </a:p>
          <a:p>
            <a:pPr>
              <a:spcAft>
                <a:spcPts val="400"/>
              </a:spcAft>
              <a:defRPr sz="1100">
                <a:solidFill>
                  <a:srgbClr val="B0B0BA"/>
                </a:solidFill>
                <a:latin typeface="Segoe UI"/>
              </a:defRPr>
            </a:pPr>
            <a:r>
              <a:t>• Challenges commercial reliance on 'raceless' ambiguous avatars.</a:t>
            </a:r>
          </a:p>
          <a:p>
            <a:pPr>
              <a:spcAft>
                <a:spcPts val="400"/>
              </a:spcAft>
              <a:defRPr sz="1100">
                <a:solidFill>
                  <a:srgbClr val="B0B0BA"/>
                </a:solidFill>
                <a:latin typeface="Segoe UI"/>
              </a:defRPr>
            </a:pPr>
            <a:r>
              <a:t>• Establishes clear criteria differentiating mixed heritage from ambiguity.</a:t>
            </a:r>
          </a:p>
          <a:p>
            <a:pPr>
              <a:spcAft>
                <a:spcPts val="400"/>
              </a:spcAft>
              <a:defRPr sz="1100">
                <a:solidFill>
                  <a:srgbClr val="B0B0BA"/>
                </a:solidFill>
                <a:latin typeface="Segoe UI"/>
              </a:defRPr>
            </a:pPr>
            <a:r>
              <a:t>• Demonstrates that demographic quotas cannot be satisfied by aesthetic guesswork.</a:t>
            </a:r>
          </a:p>
          <a:p>
            <a:pPr>
              <a:spcAft>
                <a:spcPts val="400"/>
              </a:spcAft>
              <a:defRPr sz="1100">
                <a:solidFill>
                  <a:srgbClr val="B0B0BA"/>
                </a:solidFill>
                <a:latin typeface="Segoe UI"/>
              </a:defRPr>
            </a:pPr>
            <a:r>
              <a:t>• Provides studios with a concrete framework for intentional casting.</a:t>
            </a:r>
          </a:p>
        </p:txBody>
      </p:sp>
      <p:sp>
        <p:nvSpPr>
          <p:cNvPr id="7" name="Rounded Rectangle 6"/>
          <p:cNvSpPr/>
          <p:nvPr/>
        </p:nvSpPr>
        <p:spPr>
          <a:xfrm>
            <a:off x="4434840" y="1828800"/>
            <a:ext cx="3291840" cy="4206240"/>
          </a:xfrm>
          <a:prstGeom prst="roundRect">
            <a:avLst>
              <a:gd name="adj" fmla="val 5000"/>
            </a:avLst>
          </a:prstGeom>
          <a:solidFill>
            <a:srgbClr val="1E1E22"/>
          </a:solidFill>
          <a:ln w="12700">
            <a:solidFill>
              <a:srgbClr val="2E2E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63440" y="2057400"/>
            <a:ext cx="2834640" cy="3749039"/>
          </a:xfrm>
          <a:prstGeom prst="rect">
            <a:avLst/>
          </a:prstGeom>
          <a:noFill/>
        </p:spPr>
        <p:txBody>
          <a:bodyPr wrap="square" lIns="0" tIns="0" rIns="0" bIns="0">
            <a:spAutoFit/>
          </a:bodyPr>
          <a:lstStyle/>
          <a:p>
            <a:pPr>
              <a:spcAft>
                <a:spcPts val="400"/>
              </a:spcAft>
              <a:defRPr sz="1800" b="1">
                <a:solidFill>
                  <a:srgbClr val="D49A6A"/>
                </a:solidFill>
                <a:latin typeface="Georgia"/>
              </a:defRPr>
            </a:pPr>
            <a:r>
              <a:t>2. Actionable Pipelines</a:t>
            </a:r>
          </a:p>
          <a:p>
            <a:pPr>
              <a:spcAft>
                <a:spcPts val="800"/>
              </a:spcAft>
              <a:defRPr sz="1200">
                <a:solidFill>
                  <a:srgbClr val="F5F5F7"/>
                </a:solidFill>
                <a:latin typeface="Segoe UI Semibold"/>
              </a:defRPr>
            </a:pPr>
            <a:r>
              <a:t>Artist &amp; Developer Toolkits</a:t>
            </a:r>
          </a:p>
          <a:p>
            <a:pPr>
              <a:spcAft>
                <a:spcPts val="400"/>
              </a:spcAft>
              <a:defRPr sz="1100">
                <a:solidFill>
                  <a:srgbClr val="B0B0BA"/>
                </a:solidFill>
                <a:latin typeface="Segoe UI"/>
              </a:defRPr>
            </a:pPr>
            <a:r>
              <a:t>• Replicable character design briefs combining visual lore and dual heritage.</a:t>
            </a:r>
          </a:p>
          <a:p>
            <a:pPr>
              <a:spcAft>
                <a:spcPts val="400"/>
              </a:spcAft>
              <a:defRPr sz="1100">
                <a:solidFill>
                  <a:srgbClr val="B0B0BA"/>
                </a:solidFill>
                <a:latin typeface="Segoe UI"/>
              </a:defRPr>
            </a:pPr>
            <a:r>
              <a:t>• Guidelines for modeling diverse features and hairstyles beyond Eurocentric defaults.</a:t>
            </a:r>
          </a:p>
          <a:p>
            <a:pPr>
              <a:spcAft>
                <a:spcPts val="400"/>
              </a:spcAft>
              <a:defRPr sz="1100">
                <a:solidFill>
                  <a:srgbClr val="B0B0BA"/>
                </a:solidFill>
                <a:latin typeface="Segoe UI"/>
              </a:defRPr>
            </a:pPr>
            <a:r>
              <a:t>• Integrates narrative background directly into character art pipelines.</a:t>
            </a:r>
          </a:p>
          <a:p>
            <a:pPr>
              <a:spcAft>
                <a:spcPts val="400"/>
              </a:spcAft>
              <a:defRPr sz="1100">
                <a:solidFill>
                  <a:srgbClr val="B0B0BA"/>
                </a:solidFill>
                <a:latin typeface="Segoe UI"/>
              </a:defRPr>
            </a:pPr>
            <a:r>
              <a:t>• Empowers indie teams and AAA leads to create authentic multiracial leads.</a:t>
            </a:r>
          </a:p>
        </p:txBody>
      </p:sp>
      <p:sp>
        <p:nvSpPr>
          <p:cNvPr id="9" name="Rounded Rectangle 8"/>
          <p:cNvSpPr/>
          <p:nvPr/>
        </p:nvSpPr>
        <p:spPr>
          <a:xfrm>
            <a:off x="8046720" y="1828800"/>
            <a:ext cx="3291840" cy="4206240"/>
          </a:xfrm>
          <a:prstGeom prst="roundRect">
            <a:avLst>
              <a:gd name="adj" fmla="val 5000"/>
            </a:avLst>
          </a:prstGeom>
          <a:solidFill>
            <a:srgbClr val="1E1E22"/>
          </a:solidFill>
          <a:ln w="12700">
            <a:solidFill>
              <a:srgbClr val="2E2E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75320" y="2057400"/>
            <a:ext cx="2834640" cy="3749039"/>
          </a:xfrm>
          <a:prstGeom prst="rect">
            <a:avLst/>
          </a:prstGeom>
          <a:noFill/>
        </p:spPr>
        <p:txBody>
          <a:bodyPr wrap="square" lIns="0" tIns="0" rIns="0" bIns="0">
            <a:spAutoFit/>
          </a:bodyPr>
          <a:lstStyle/>
          <a:p>
            <a:pPr>
              <a:spcAft>
                <a:spcPts val="400"/>
              </a:spcAft>
              <a:defRPr sz="1800" b="1">
                <a:solidFill>
                  <a:srgbClr val="D49A6A"/>
                </a:solidFill>
                <a:latin typeface="Georgia"/>
              </a:defRPr>
            </a:pPr>
            <a:r>
              <a:t>3. Player Belonging</a:t>
            </a:r>
          </a:p>
          <a:p>
            <a:pPr>
              <a:spcAft>
                <a:spcPts val="800"/>
              </a:spcAft>
              <a:defRPr sz="1200">
                <a:solidFill>
                  <a:srgbClr val="F5F5F7"/>
                </a:solidFill>
                <a:latin typeface="Segoe UI Semibold"/>
              </a:defRPr>
            </a:pPr>
            <a:r>
              <a:t>Equitable Ludic Immersion</a:t>
            </a:r>
          </a:p>
          <a:p>
            <a:pPr>
              <a:spcAft>
                <a:spcPts val="400"/>
              </a:spcAft>
              <a:defRPr sz="1100">
                <a:solidFill>
                  <a:srgbClr val="B0B0BA"/>
                </a:solidFill>
                <a:latin typeface="Segoe UI"/>
              </a:defRPr>
            </a:pPr>
            <a:r>
              <a:t>• Validates the lived experiences of an expanding multiracial player demographic.</a:t>
            </a:r>
          </a:p>
          <a:p>
            <a:pPr>
              <a:spcAft>
                <a:spcPts val="400"/>
              </a:spcAft>
              <a:defRPr sz="1100">
                <a:solidFill>
                  <a:srgbClr val="B0B0BA"/>
                </a:solidFill>
                <a:latin typeface="Segoe UI"/>
              </a:defRPr>
            </a:pPr>
            <a:r>
              <a:t>• Dismantles the 'white habitus' and monolithic racial binaries in gaming spaces.</a:t>
            </a:r>
          </a:p>
          <a:p>
            <a:pPr>
              <a:spcAft>
                <a:spcPts val="400"/>
              </a:spcAft>
              <a:defRPr sz="1100">
                <a:solidFill>
                  <a:srgbClr val="B0B0BA"/>
                </a:solidFill>
                <a:latin typeface="Segoe UI"/>
              </a:defRPr>
            </a:pPr>
            <a:r>
              <a:t>• Promotes psychological flow and emotional connection for marginalized gamers.</a:t>
            </a:r>
          </a:p>
          <a:p>
            <a:pPr>
              <a:spcAft>
                <a:spcPts val="400"/>
              </a:spcAft>
              <a:defRPr sz="1100">
                <a:solidFill>
                  <a:srgbClr val="B0B0BA"/>
                </a:solidFill>
                <a:latin typeface="Segoe UI"/>
              </a:defRPr>
            </a:pPr>
            <a:r>
              <a:t>• Ensures players can finally project themselves authentically into game worlds.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416"/>
        </a:solidFill>
        <a:effectLst/>
      </p:bgPr>
    </p:bg>
    <p:spTree>
      <p:nvGrpSpPr>
        <p:cNvPr id="1" name=""/>
        <p:cNvGrpSpPr/>
        <p:nvPr/>
      </p:nvGrpSpPr>
      <p:grpSpPr>
        <a:xfrm>
          <a:off x="0" y="0"/>
          <a:ext cx="0" cy="0"/>
          <a:chOff x="0" y="0"/>
          <a:chExt cx="0" cy="0"/>
        </a:xfrm>
      </p:grpSpPr>
      <p:sp>
        <p:nvSpPr>
          <p:cNvPr id="2" name="TextBox 1"/>
          <p:cNvSpPr txBox="1"/>
          <p:nvPr/>
        </p:nvSpPr>
        <p:spPr>
          <a:xfrm>
            <a:off x="822960" y="502920"/>
            <a:ext cx="10515600" cy="320040"/>
          </a:xfrm>
          <a:prstGeom prst="rect">
            <a:avLst/>
          </a:prstGeom>
          <a:noFill/>
        </p:spPr>
        <p:txBody>
          <a:bodyPr wrap="none" lIns="0" tIns="0" rIns="0" bIns="0">
            <a:spAutoFit/>
          </a:bodyPr>
          <a:lstStyle/>
          <a:p>
            <a:pPr>
              <a:defRPr sz="1100" b="1">
                <a:solidFill>
                  <a:srgbClr val="D49A6A"/>
                </a:solidFill>
                <a:latin typeface="Segoe UI Semibold"/>
              </a:defRPr>
            </a:pPr>
            <a:r>
              <a:t>BACKUP SLIDE 1: DEMOGRAPHIC BENCHMARKS &amp; CENSUS DATA</a:t>
            </a:r>
          </a:p>
        </p:txBody>
      </p:sp>
      <p:sp>
        <p:nvSpPr>
          <p:cNvPr id="3" name="TextBox 2"/>
          <p:cNvSpPr txBox="1"/>
          <p:nvPr/>
        </p:nvSpPr>
        <p:spPr>
          <a:xfrm>
            <a:off x="822960" y="868680"/>
            <a:ext cx="10515600" cy="822960"/>
          </a:xfrm>
          <a:prstGeom prst="rect">
            <a:avLst/>
          </a:prstGeom>
          <a:noFill/>
        </p:spPr>
        <p:txBody>
          <a:bodyPr wrap="square" lIns="0" tIns="0" rIns="0" bIns="0">
            <a:spAutoFit/>
          </a:bodyPr>
          <a:lstStyle/>
          <a:p>
            <a:pPr>
              <a:defRPr sz="3600" b="1">
                <a:solidFill>
                  <a:srgbClr val="F5F5F7"/>
                </a:solidFill>
                <a:latin typeface="Georgia"/>
              </a:defRPr>
            </a:pPr>
            <a:r>
              <a:t>Contextualizing the Real-World Disparity</a:t>
            </a:r>
          </a:p>
        </p:txBody>
      </p:sp>
      <p:sp>
        <p:nvSpPr>
          <p:cNvPr id="4" name="TextBox 3"/>
          <p:cNvSpPr txBox="1"/>
          <p:nvPr/>
        </p:nvSpPr>
        <p:spPr>
          <a:xfrm>
            <a:off x="822960" y="6400800"/>
            <a:ext cx="4719241" cy="153888"/>
          </a:xfrm>
          <a:prstGeom prst="rect">
            <a:avLst/>
          </a:prstGeom>
          <a:noFill/>
        </p:spPr>
        <p:txBody>
          <a:bodyPr wrap="none" lIns="0" tIns="0" rIns="0" bIns="0">
            <a:spAutoFit/>
          </a:bodyPr>
          <a:lstStyle/>
          <a:p>
            <a:pPr>
              <a:defRPr sz="1000">
                <a:solidFill>
                  <a:srgbClr val="6E6E78"/>
                </a:solidFill>
                <a:latin typeface="Segoe UI"/>
              </a:defRPr>
            </a:pPr>
            <a:r>
              <a:rPr lang="en-GB"/>
              <a:t>BSc Final Year Final Project: Development   |   Josh Johnson   |   Backup Data</a:t>
            </a:r>
            <a:endParaRPr/>
          </a:p>
        </p:txBody>
      </p:sp>
      <p:sp>
        <p:nvSpPr>
          <p:cNvPr id="5" name="Rounded Rectangle 4"/>
          <p:cNvSpPr/>
          <p:nvPr/>
        </p:nvSpPr>
        <p:spPr>
          <a:xfrm>
            <a:off x="822960" y="1828800"/>
            <a:ext cx="5029200" cy="4206240"/>
          </a:xfrm>
          <a:prstGeom prst="roundRect">
            <a:avLst>
              <a:gd name="adj" fmla="val 5000"/>
            </a:avLst>
          </a:prstGeom>
          <a:solidFill>
            <a:srgbClr val="1E1E22"/>
          </a:solidFill>
          <a:ln w="12700">
            <a:solidFill>
              <a:srgbClr val="2E2E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057400"/>
            <a:ext cx="4572000" cy="3749039"/>
          </a:xfrm>
          <a:prstGeom prst="rect">
            <a:avLst/>
          </a:prstGeom>
          <a:noFill/>
        </p:spPr>
        <p:txBody>
          <a:bodyPr wrap="square" lIns="0" tIns="0" rIns="0" bIns="0">
            <a:spAutoFit/>
          </a:bodyPr>
          <a:lstStyle/>
          <a:p>
            <a:pPr>
              <a:spcAft>
                <a:spcPts val="400"/>
              </a:spcAft>
              <a:defRPr sz="1800" b="1">
                <a:solidFill>
                  <a:srgbClr val="D49A6A"/>
                </a:solidFill>
                <a:latin typeface="Georgia"/>
              </a:defRPr>
            </a:pPr>
            <a:r>
              <a:t>Industry Census &amp; Box-Art Trends</a:t>
            </a:r>
          </a:p>
          <a:p>
            <a:pPr>
              <a:spcAft>
                <a:spcPts val="800"/>
              </a:spcAft>
              <a:defRPr sz="1200">
                <a:solidFill>
                  <a:srgbClr val="F5F5F7"/>
                </a:solidFill>
                <a:latin typeface="Segoe UI Semibold"/>
              </a:defRPr>
            </a:pPr>
            <a:r>
              <a:t>Virtual Census vs Playable Leads</a:t>
            </a:r>
          </a:p>
          <a:p>
            <a:pPr>
              <a:spcAft>
                <a:spcPts val="400"/>
              </a:spcAft>
              <a:defRPr sz="1100">
                <a:solidFill>
                  <a:srgbClr val="B0B0BA"/>
                </a:solidFill>
                <a:latin typeface="Segoe UI"/>
              </a:defRPr>
            </a:pPr>
            <a:r>
              <a:t>• Virtual Census (Williams et al., 2009): 1.39% of characters coded biracial in 2005 games.</a:t>
            </a:r>
          </a:p>
          <a:p>
            <a:pPr>
              <a:spcAft>
                <a:spcPts val="400"/>
              </a:spcAft>
              <a:defRPr sz="1100">
                <a:solidFill>
                  <a:srgbClr val="B0B0BA"/>
                </a:solidFill>
                <a:latin typeface="Segoe UI"/>
              </a:defRPr>
            </a:pPr>
            <a:r>
              <a:t>• Virtual Census 2.0 (Jones et al., 2025): 3.15% of characters coded biracial in 2017 games.</a:t>
            </a:r>
          </a:p>
          <a:p>
            <a:pPr>
              <a:spcAft>
                <a:spcPts val="400"/>
              </a:spcAft>
              <a:defRPr sz="1100">
                <a:solidFill>
                  <a:srgbClr val="B0B0BA"/>
                </a:solidFill>
                <a:latin typeface="Segoe UI"/>
              </a:defRPr>
            </a:pPr>
            <a:r>
              <a:t>• Box-Art Playable Leads: Under 1% canonically mixed (Miles Morales is the rare exception).</a:t>
            </a:r>
          </a:p>
          <a:p>
            <a:pPr>
              <a:spcAft>
                <a:spcPts val="400"/>
              </a:spcAft>
              <a:defRPr sz="1100">
                <a:solidFill>
                  <a:srgbClr val="B0B0BA"/>
                </a:solidFill>
                <a:latin typeface="Segoe UI"/>
              </a:defRPr>
            </a:pPr>
            <a:r>
              <a:t>• White protagonists dominate over 75–80% of playable lead roles.</a:t>
            </a:r>
          </a:p>
          <a:p>
            <a:pPr>
              <a:spcAft>
                <a:spcPts val="400"/>
              </a:spcAft>
              <a:defRPr sz="1100">
                <a:solidFill>
                  <a:srgbClr val="B0B0BA"/>
                </a:solidFill>
                <a:latin typeface="Segoe UI"/>
              </a:defRPr>
            </a:pPr>
            <a:r>
              <a:t>• Ambiguity Problem: 3.15% count relies entirely on visual guesswork, not explicit narrative lore.</a:t>
            </a:r>
          </a:p>
        </p:txBody>
      </p:sp>
      <p:sp>
        <p:nvSpPr>
          <p:cNvPr id="7" name="Rounded Rectangle 6"/>
          <p:cNvSpPr/>
          <p:nvPr/>
        </p:nvSpPr>
        <p:spPr>
          <a:xfrm>
            <a:off x="6309360" y="1828800"/>
            <a:ext cx="5029200" cy="4206240"/>
          </a:xfrm>
          <a:prstGeom prst="roundRect">
            <a:avLst>
              <a:gd name="adj" fmla="val 5000"/>
            </a:avLst>
          </a:prstGeom>
          <a:solidFill>
            <a:srgbClr val="1E1E22"/>
          </a:solidFill>
          <a:ln w="12700">
            <a:solidFill>
              <a:srgbClr val="2E2E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7960" y="2057400"/>
            <a:ext cx="4572000" cy="3749039"/>
          </a:xfrm>
          <a:prstGeom prst="rect">
            <a:avLst/>
          </a:prstGeom>
          <a:noFill/>
        </p:spPr>
        <p:txBody>
          <a:bodyPr wrap="square" lIns="0" tIns="0" rIns="0" bIns="0">
            <a:spAutoFit/>
          </a:bodyPr>
          <a:lstStyle/>
          <a:p>
            <a:pPr>
              <a:spcAft>
                <a:spcPts val="400"/>
              </a:spcAft>
              <a:defRPr sz="1800" b="1">
                <a:solidFill>
                  <a:srgbClr val="D49A6A"/>
                </a:solidFill>
                <a:latin typeface="Georgia"/>
              </a:defRPr>
            </a:pPr>
            <a:r>
              <a:t>Real-World Demographics &amp; Youth Skew</a:t>
            </a:r>
          </a:p>
          <a:p>
            <a:pPr>
              <a:spcAft>
                <a:spcPts val="800"/>
              </a:spcAft>
              <a:defRPr sz="1200">
                <a:solidFill>
                  <a:srgbClr val="F5F5F7"/>
                </a:solidFill>
                <a:latin typeface="Segoe UI Semibold"/>
              </a:defRPr>
            </a:pPr>
            <a:r>
              <a:t>National Baselines vs Gamer Generations</a:t>
            </a:r>
          </a:p>
          <a:p>
            <a:pPr>
              <a:spcAft>
                <a:spcPts val="400"/>
              </a:spcAft>
              <a:defRPr sz="1100">
                <a:solidFill>
                  <a:srgbClr val="B0B0BA"/>
                </a:solidFill>
                <a:latin typeface="Segoe UI"/>
              </a:defRPr>
            </a:pPr>
            <a:r>
              <a:t>• UK ONS Census 2021: 2.9% overall (England &amp; Wales). Major urban hubs (London) exceed 5–6%.</a:t>
            </a:r>
          </a:p>
          <a:p>
            <a:pPr>
              <a:spcAft>
                <a:spcPts val="400"/>
              </a:spcAft>
              <a:defRPr sz="1100">
                <a:solidFill>
                  <a:srgbClr val="B0B0BA"/>
                </a:solidFill>
                <a:latin typeface="Segoe UI"/>
              </a:defRPr>
            </a:pPr>
            <a:r>
              <a:t>• UK Youth Demographic: Mixed identification among school-age youths exceeds 5–10%.</a:t>
            </a:r>
          </a:p>
          <a:p>
            <a:pPr>
              <a:spcAft>
                <a:spcPts val="400"/>
              </a:spcAft>
              <a:defRPr sz="1100">
                <a:solidFill>
                  <a:srgbClr val="B0B0BA"/>
                </a:solidFill>
                <a:latin typeface="Segoe UI"/>
              </a:defRPr>
            </a:pPr>
            <a:r>
              <a:t>• US Census Bureau 2020: 10.2% overall (33.8M people, up from 2.9% in 2010 due to question redesign).</a:t>
            </a:r>
          </a:p>
          <a:p>
            <a:pPr>
              <a:spcAft>
                <a:spcPts val="400"/>
              </a:spcAft>
              <a:defRPr sz="1100">
                <a:solidFill>
                  <a:srgbClr val="B0B0BA"/>
                </a:solidFill>
                <a:latin typeface="Segoe UI"/>
              </a:defRPr>
            </a:pPr>
            <a:r>
              <a:t>• US Youth Demographic: Over 15% of under-18s identify as multiracial.</a:t>
            </a:r>
          </a:p>
          <a:p>
            <a:pPr>
              <a:spcAft>
                <a:spcPts val="400"/>
              </a:spcAft>
              <a:defRPr sz="1100">
                <a:solidFill>
                  <a:srgbClr val="B0B0BA"/>
                </a:solidFill>
                <a:latin typeface="Segoe UI"/>
              </a:defRPr>
            </a:pPr>
            <a:r>
              <a:t>• Key Takeaway: Comparing 1–2% game leads against 10–15% youth gamers proves a massive generational deficit.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1416"/>
        </a:solidFill>
        <a:effectLst/>
      </p:bgPr>
    </p:bg>
    <p:spTree>
      <p:nvGrpSpPr>
        <p:cNvPr id="1" name=""/>
        <p:cNvGrpSpPr/>
        <p:nvPr/>
      </p:nvGrpSpPr>
      <p:grpSpPr>
        <a:xfrm>
          <a:off x="0" y="0"/>
          <a:ext cx="0" cy="0"/>
          <a:chOff x="0" y="0"/>
          <a:chExt cx="0" cy="0"/>
        </a:xfrm>
      </p:grpSpPr>
      <p:sp>
        <p:nvSpPr>
          <p:cNvPr id="2" name="TextBox 1"/>
          <p:cNvSpPr txBox="1"/>
          <p:nvPr/>
        </p:nvSpPr>
        <p:spPr>
          <a:xfrm>
            <a:off x="822960" y="502920"/>
            <a:ext cx="10515600" cy="320040"/>
          </a:xfrm>
          <a:prstGeom prst="rect">
            <a:avLst/>
          </a:prstGeom>
          <a:noFill/>
        </p:spPr>
        <p:txBody>
          <a:bodyPr wrap="none" lIns="0" tIns="0" rIns="0" bIns="0">
            <a:spAutoFit/>
          </a:bodyPr>
          <a:lstStyle/>
          <a:p>
            <a:pPr>
              <a:defRPr sz="1100" b="1">
                <a:solidFill>
                  <a:srgbClr val="D49A6A"/>
                </a:solidFill>
                <a:latin typeface="Segoe UI Semibold"/>
              </a:defRPr>
            </a:pPr>
            <a:r>
              <a:t>BACKUP SLIDE 2: ACADEMIC REFERENCES</a:t>
            </a:r>
          </a:p>
        </p:txBody>
      </p:sp>
      <p:sp>
        <p:nvSpPr>
          <p:cNvPr id="3" name="TextBox 2"/>
          <p:cNvSpPr txBox="1"/>
          <p:nvPr/>
        </p:nvSpPr>
        <p:spPr>
          <a:xfrm>
            <a:off x="822960" y="868680"/>
            <a:ext cx="10515600" cy="822960"/>
          </a:xfrm>
          <a:prstGeom prst="rect">
            <a:avLst/>
          </a:prstGeom>
          <a:noFill/>
        </p:spPr>
        <p:txBody>
          <a:bodyPr wrap="square" lIns="0" tIns="0" rIns="0" bIns="0">
            <a:spAutoFit/>
          </a:bodyPr>
          <a:lstStyle/>
          <a:p>
            <a:pPr>
              <a:defRPr sz="3600" b="1">
                <a:solidFill>
                  <a:srgbClr val="F5F5F7"/>
                </a:solidFill>
                <a:latin typeface="Georgia"/>
              </a:defRPr>
            </a:pPr>
            <a:r>
              <a:t>Cite Them Right Harvard Format</a:t>
            </a:r>
          </a:p>
        </p:txBody>
      </p:sp>
      <p:sp>
        <p:nvSpPr>
          <p:cNvPr id="4" name="TextBox 3"/>
          <p:cNvSpPr txBox="1"/>
          <p:nvPr/>
        </p:nvSpPr>
        <p:spPr>
          <a:xfrm>
            <a:off x="822960" y="6400800"/>
            <a:ext cx="5291513" cy="153888"/>
          </a:xfrm>
          <a:prstGeom prst="rect">
            <a:avLst/>
          </a:prstGeom>
          <a:noFill/>
        </p:spPr>
        <p:txBody>
          <a:bodyPr wrap="none" lIns="0" tIns="0" rIns="0" bIns="0">
            <a:spAutoFit/>
          </a:bodyPr>
          <a:lstStyle/>
          <a:p>
            <a:pPr>
              <a:defRPr sz="1000">
                <a:solidFill>
                  <a:srgbClr val="6E6E78"/>
                </a:solidFill>
                <a:latin typeface="Segoe UI"/>
              </a:defRPr>
            </a:pPr>
            <a:r>
              <a:rPr lang="en-GB"/>
              <a:t>BSc Final Year Final Project: Development   |   Josh Johnson   |   Academic References</a:t>
            </a:r>
            <a:endParaRPr/>
          </a:p>
        </p:txBody>
      </p:sp>
      <p:sp>
        <p:nvSpPr>
          <p:cNvPr id="5" name="TextBox 4"/>
          <p:cNvSpPr txBox="1"/>
          <p:nvPr/>
        </p:nvSpPr>
        <p:spPr>
          <a:xfrm>
            <a:off x="822960" y="1737360"/>
            <a:ext cx="10515600" cy="4389120"/>
          </a:xfrm>
          <a:prstGeom prst="rect">
            <a:avLst/>
          </a:prstGeom>
          <a:noFill/>
        </p:spPr>
        <p:txBody>
          <a:bodyPr wrap="square" lIns="0" tIns="0" rIns="0" bIns="0">
            <a:spAutoFit/>
          </a:bodyPr>
          <a:lstStyle/>
          <a:p>
            <a:pPr>
              <a:spcAft>
                <a:spcPts val="800"/>
              </a:spcAft>
              <a:defRPr sz="1100">
                <a:solidFill>
                  <a:srgbClr val="B0B0BA"/>
                </a:solidFill>
                <a:latin typeface="Segoe UI"/>
              </a:defRPr>
            </a:pPr>
            <a:r>
              <a:t>• Dietrich, D.R. (2013) 'Avatars of whiteness: racial expression in video game characters', Sociological Inquiry, 83(1), pp. 82–105.</a:t>
            </a:r>
          </a:p>
          <a:p>
            <a:pPr>
              <a:spcAft>
                <a:spcPts val="800"/>
              </a:spcAft>
              <a:defRPr sz="1100">
                <a:solidFill>
                  <a:srgbClr val="B0B0BA"/>
                </a:solidFill>
                <a:latin typeface="Segoe UI"/>
              </a:defRPr>
            </a:pPr>
            <a:r>
              <a:t>• Jones, S.S.Y., Harrisson, A., Pedraça, S., Marchessault-Brown, J., Williams, D. and Consalvo, M. (2025) 'The virtual census 2.0: a continued investigation on the representations of gender, race, and age in videogames', New Media &amp; Society.</a:t>
            </a:r>
          </a:p>
          <a:p>
            <a:pPr>
              <a:spcAft>
                <a:spcPts val="800"/>
              </a:spcAft>
              <a:defRPr sz="1100">
                <a:solidFill>
                  <a:srgbClr val="B0B0BA"/>
                </a:solidFill>
                <a:latin typeface="Segoe UI"/>
              </a:defRPr>
            </a:pPr>
            <a:r>
              <a:t>• Office for National Statistics (2022) Ethnic group, England and Wales: Census 2021. Available at: https://www.ons.gov.uk/ (Accessed: 14 October 2026).</a:t>
            </a:r>
          </a:p>
          <a:p>
            <a:pPr>
              <a:spcAft>
                <a:spcPts val="800"/>
              </a:spcAft>
              <a:defRPr sz="1100">
                <a:solidFill>
                  <a:srgbClr val="B0B0BA"/>
                </a:solidFill>
                <a:latin typeface="Segoe UI"/>
              </a:defRPr>
            </a:pPr>
            <a:r>
              <a:t>• Passmore, C.J., Birk, M.V. and Mandryk, R.L. (2018) 'The privilege of immersion: racial and ethnic experiences, perceptions, and beliefs in digital gaming', in Proceedings of the 2018 CHI Conference on Human Factors in Computing Systems (CHI '18). ACM, pp. 1–12.</a:t>
            </a:r>
          </a:p>
          <a:p>
            <a:pPr>
              <a:spcAft>
                <a:spcPts val="800"/>
              </a:spcAft>
              <a:defRPr sz="1100">
                <a:solidFill>
                  <a:srgbClr val="B0B0BA"/>
                </a:solidFill>
                <a:latin typeface="Segoe UI"/>
              </a:defRPr>
            </a:pPr>
            <a:r>
              <a:t>• Phillips, A. (2022) 'Fixing the past: memory tourism, multiraciality, and white innocence in video games', ROMchip: A Journal of Game Histories, 4(1).</a:t>
            </a:r>
          </a:p>
          <a:p>
            <a:pPr>
              <a:spcAft>
                <a:spcPts val="800"/>
              </a:spcAft>
              <a:defRPr sz="1100">
                <a:solidFill>
                  <a:srgbClr val="B0B0BA"/>
                </a:solidFill>
                <a:latin typeface="Segoe UI"/>
              </a:defRPr>
            </a:pPr>
            <a:r>
              <a:t>• Williams, D., Martins, N., Consalvo, M. and Ivory, J.D. (2009) 'The virtual census: representations of gender, race and age in video games', New Media &amp; Society, 11(5), pp. 815–834.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2118</Words>
  <Application>Microsoft Office PowerPoint</Application>
  <PresentationFormat>Widescreen</PresentationFormat>
  <Paragraphs>127</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Joshua JOHNSON</cp:lastModifiedBy>
  <cp:revision>2</cp:revision>
  <dcterms:created xsi:type="dcterms:W3CDTF">2013-01-27T09:14:16Z</dcterms:created>
  <dcterms:modified xsi:type="dcterms:W3CDTF">2026-10-17T14:09:18Z</dcterms:modified>
  <cp:category/>
</cp:coreProperties>
</file>